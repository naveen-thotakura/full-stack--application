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71" r:id="rId5"/>
    <p:sldId id="259" r:id="rId6"/>
    <p:sldId id="261" r:id="rId7"/>
    <p:sldId id="262" r:id="rId8"/>
    <p:sldId id="263" r:id="rId9"/>
    <p:sldId id="264" r:id="rId10"/>
    <p:sldId id="269" r:id="rId11"/>
    <p:sldId id="266" r:id="rId12"/>
    <p:sldId id="268" r:id="rId13"/>
    <p:sldId id="274" r:id="rId14"/>
    <p:sldId id="273" r:id="rId15"/>
    <p:sldId id="270" r:id="rId16"/>
    <p:sldId id="265" r:id="rId17"/>
  </p:sldIdLst>
  <p:sldSz cx="18288000" cy="10287000"/>
  <p:notesSz cx="6858000" cy="9144000"/>
  <p:embeddedFontLst>
    <p:embeddedFont>
      <p:font typeface="Bookman Old Style" panose="02050604050505020204" pitchFamily="18" charset="0"/>
      <p:regular r:id="rId18"/>
      <p:bold r:id="rId19"/>
      <p:italic r:id="rId20"/>
      <p:boldItalic r:id="rId21"/>
    </p:embeddedFont>
    <p:embeddedFont>
      <p:font typeface="Cambria" panose="02040503050406030204" pitchFamily="18" charset="0"/>
      <p:regular r:id="rId22"/>
      <p:bold r:id="rId23"/>
      <p:italic r:id="rId24"/>
      <p:boldItalic r:id="rId25"/>
    </p:embeddedFont>
    <p:embeddedFont>
      <p:font typeface="Gotham" panose="020B0604020202020204" charset="0"/>
      <p:regular r:id="rId26"/>
    </p:embeddedFont>
    <p:embeddedFont>
      <p:font typeface="Gotham Bold Italics" panose="020B0604020202020204" charset="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2ACEDBD-BDC5-46B3-AA7B-BA93F0A462A7}" v="8" dt="2026-05-05T15:42:21.86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94622" autoAdjust="0"/>
  </p:normalViewPr>
  <p:slideViewPr>
    <p:cSldViewPr>
      <p:cViewPr varScale="1">
        <p:scale>
          <a:sx n="40" d="100"/>
          <a:sy n="40" d="100"/>
        </p:scale>
        <p:origin x="88" y="23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font" Target="fonts/font9.fntdata"/><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7.fntdata"/><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2.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font" Target="fonts/font10.fntdata"/><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Cambria" panose="02040503050406030204" pitchFamily="18" charset="0"/>
                <a:ea typeface="Cambria" panose="02040503050406030204" pitchFamily="18" charset="0"/>
              </a:rPr>
              <a:t>Vel Tech Rangarajan Dr. Sagunthala R&amp;D Institute of Science and Technology</a:t>
            </a:r>
          </a:p>
          <a:p>
            <a:pPr algn="ctr"/>
            <a:r>
              <a:rPr lang="en-US" sz="3600" b="1" dirty="0">
                <a:latin typeface="Cambria" panose="02040503050406030204" pitchFamily="18" charset="0"/>
                <a:ea typeface="Cambria" panose="02040503050406030204" pitchFamily="18" charset="0"/>
              </a:rPr>
              <a:t>School of Computing </a:t>
            </a:r>
          </a:p>
          <a:p>
            <a:pPr algn="ctr"/>
            <a:r>
              <a:rPr lang="en-US" sz="3200" b="1" dirty="0">
                <a:latin typeface="Cambria" panose="02040503050406030204" pitchFamily="18" charset="0"/>
                <a:ea typeface="Cambria" panose="02040503050406030204" pitchFamily="18" charset="0"/>
              </a:rPr>
              <a:t>Department of Computer Science and Engineering</a:t>
            </a:r>
            <a:endParaRPr lang="en-IN" sz="3200" b="1" dirty="0">
              <a:latin typeface="Cambria" panose="02040503050406030204" pitchFamily="18" charset="0"/>
              <a:ea typeface="Cambria" panose="020405030504060302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Bookman Old Style" panose="02050604050505020204" pitchFamily="18" charset="0"/>
              </a:rPr>
              <a:t>10211CS224 / FULL STACK APPLICATION DEVELOPMENT (JAVA)</a:t>
            </a:r>
            <a:endParaRPr lang="en-IN" sz="2800" b="1" dirty="0">
              <a:solidFill>
                <a:srgbClr val="0033CC"/>
              </a:solidFill>
              <a:latin typeface="Bookman Old Style" panose="020506040505050202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84488"/>
            <a:ext cx="11190289" cy="1200329"/>
          </a:xfrm>
          <a:prstGeom prst="rect">
            <a:avLst/>
          </a:prstGeom>
          <a:noFill/>
        </p:spPr>
        <p:txBody>
          <a:bodyPr wrap="square" rtlCol="0">
            <a:spAutoFit/>
          </a:bodyPr>
          <a:lstStyle/>
          <a:p>
            <a:pPr algn="ctr"/>
            <a:r>
              <a:rPr lang="en-IN" sz="3600" b="1" dirty="0">
                <a:solidFill>
                  <a:srgbClr val="C00000"/>
                </a:solidFill>
                <a:latin typeface="Arial" panose="020B0604020202020204" pitchFamily="34" charset="0"/>
                <a:cs typeface="Arial" panose="020B0604020202020204" pitchFamily="34" charset="0"/>
              </a:rPr>
              <a:t>END SEMESTER PROJECT REVIEW</a:t>
            </a:r>
          </a:p>
          <a:p>
            <a:pPr algn="ctr"/>
            <a:r>
              <a:rPr lang="en-IN" sz="3600" b="1" dirty="0">
                <a:solidFill>
                  <a:srgbClr val="C00000"/>
                </a:solidFill>
                <a:latin typeface="Arial" panose="020B0604020202020204" pitchFamily="34" charset="0"/>
                <a:cs typeface="Arial" panose="020B0604020202020204" pitchFamily="34" charset="0"/>
              </a:rPr>
              <a:t>Date: 06-05-2026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589438" y="6057900"/>
            <a:ext cx="15784162" cy="707886"/>
          </a:xfrm>
          <a:prstGeom prst="rect">
            <a:avLst/>
          </a:prstGeom>
          <a:noFill/>
        </p:spPr>
        <p:txBody>
          <a:bodyPr wrap="square" rtlCol="0">
            <a:spAutoFit/>
          </a:bodyPr>
          <a:lstStyle/>
          <a:p>
            <a:pPr algn="ctr"/>
            <a:r>
              <a:rPr lang="en-US" sz="4000" b="1" dirty="0">
                <a:solidFill>
                  <a:srgbClr val="0033CC"/>
                </a:solidFill>
                <a:latin typeface="Times New Roman" panose="02020603050405020304" pitchFamily="18" charset="0"/>
                <a:cs typeface="Times New Roman" panose="02020603050405020304" pitchFamily="18" charset="0"/>
              </a:rPr>
              <a:t>Smart Campus Event Management System</a:t>
            </a:r>
            <a:endParaRPr lang="en-IN" sz="4000" b="1" dirty="0">
              <a:solidFill>
                <a:srgbClr val="0033CC"/>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Presented By:</a:t>
            </a:r>
          </a:p>
          <a:p>
            <a:pPr>
              <a:lnSpc>
                <a:spcPct val="150000"/>
              </a:lnSpc>
            </a:pPr>
            <a:r>
              <a:rPr lang="en-US" sz="3000" dirty="0" err="1">
                <a:latin typeface="Cambria" panose="02040503050406030204" pitchFamily="18" charset="0"/>
                <a:ea typeface="Cambria" panose="02040503050406030204" pitchFamily="18" charset="0"/>
              </a:rPr>
              <a:t>G.SaiRam</a:t>
            </a:r>
            <a:r>
              <a:rPr lang="en-US" sz="3000" dirty="0">
                <a:latin typeface="Cambria" panose="02040503050406030204" pitchFamily="18" charset="0"/>
                <a:ea typeface="Cambria" panose="02040503050406030204" pitchFamily="18" charset="0"/>
              </a:rPr>
              <a:t> – VTU25501 – 23UECS0737.</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0945035" y="7818586"/>
            <a:ext cx="6914603" cy="1391663"/>
          </a:xfrm>
          <a:prstGeom prst="rect">
            <a:avLst/>
          </a:prstGeom>
          <a:noFill/>
        </p:spPr>
        <p:txBody>
          <a:bodyPr wrap="square" rtlCol="0">
            <a:spAutoFit/>
          </a:bodyPr>
          <a:lstStyle/>
          <a:p>
            <a:pPr>
              <a:lnSpc>
                <a:spcPct val="150000"/>
              </a:lnSpc>
            </a:pPr>
            <a:r>
              <a:rPr lang="en-US" sz="3000" b="1" dirty="0">
                <a:latin typeface="Cambria" panose="02040503050406030204" pitchFamily="18" charset="0"/>
                <a:ea typeface="Cambria" panose="02040503050406030204" pitchFamily="18" charset="0"/>
              </a:rPr>
              <a:t>Courses Handling Faculty:</a:t>
            </a:r>
          </a:p>
          <a:p>
            <a:pPr>
              <a:lnSpc>
                <a:spcPct val="150000"/>
              </a:lnSpc>
            </a:pPr>
            <a:r>
              <a:rPr lang="en-US" sz="3000" dirty="0">
                <a:latin typeface="Cambria" panose="02040503050406030204" pitchFamily="18" charset="0"/>
                <a:ea typeface="Cambria" panose="02040503050406030204" pitchFamily="18" charset="0"/>
              </a:rPr>
              <a:t>Dr. S . HEMAMALINI – M.E., Ph.D.,</a:t>
            </a: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461665"/>
          </a:xfrm>
          <a:prstGeom prst="rect">
            <a:avLst/>
          </a:prstGeom>
          <a:noFill/>
        </p:spPr>
        <p:txBody>
          <a:bodyPr wrap="square" rtlCol="0">
            <a:spAutoFit/>
          </a:bodyPr>
          <a:lstStyle/>
          <a:p>
            <a:r>
              <a:rPr lang="en-US" sz="2000" b="1" dirty="0">
                <a:latin typeface="Cambria" panose="02040503050406030204" pitchFamily="18" charset="0"/>
                <a:ea typeface="Cambria" panose="02040503050406030204" pitchFamily="18" charset="0"/>
              </a:rPr>
              <a:t>SDG: SDG 9 – </a:t>
            </a:r>
            <a:r>
              <a:rPr lang="en-IN" sz="2400" b="1" dirty="0"/>
              <a:t>Industry, Innovation and Infrastructure</a:t>
            </a:r>
            <a:endParaRPr lang="en-IN" sz="2400" b="1" dirty="0">
              <a:latin typeface="Cambria" panose="02040503050406030204" pitchFamily="18" charset="0"/>
              <a:ea typeface="Cambria" panose="020405030504060302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2057400" y="2095499"/>
            <a:ext cx="14728960" cy="11295400"/>
          </a:xfrm>
          <a:prstGeom prst="rect">
            <a:avLst/>
          </a:prstGeom>
          <a:noFill/>
        </p:spPr>
        <p:txBody>
          <a:bodyPr wrap="square" rtlCol="0">
            <a:spAutoFit/>
          </a:bodyPr>
          <a:lstStyle/>
          <a:p>
            <a:r>
              <a:rPr lang="en-US" sz="2800" b="1" dirty="0">
                <a:solidFill>
                  <a:srgbClr val="0033CC"/>
                </a:solidFill>
              </a:rPr>
              <a:t>Background of the problem:</a:t>
            </a:r>
          </a:p>
          <a:p>
            <a:r>
              <a:rPr lang="en-US" sz="2800" dirty="0"/>
              <a:t>Many colleges and universities still manage events manually or through scattered systems like notices, WhatsApp groups, or spreadsheets. This leads to issues such as miscommunication, missed registrations, lack of centralized data, and difficulty in tracking participants or event details.</a:t>
            </a:r>
          </a:p>
          <a:p>
            <a:r>
              <a:rPr lang="en-US" sz="2800" b="1" dirty="0">
                <a:solidFill>
                  <a:srgbClr val="0033CC"/>
                </a:solidFill>
              </a:rPr>
              <a:t>Why this project is important:</a:t>
            </a:r>
          </a:p>
          <a:p>
            <a:r>
              <a:rPr lang="en-US" sz="2800" dirty="0"/>
              <a:t>It helps automate event creation, registration, notifications, and participant tracking using modern web technologies and database systems. It improves communication and reduces manual workload for organizers.</a:t>
            </a:r>
            <a:endParaRPr lang="en-US" sz="2800" b="1" dirty="0"/>
          </a:p>
          <a:p>
            <a:r>
              <a:rPr lang="en-US" sz="2800" b="1" dirty="0">
                <a:solidFill>
                  <a:srgbClr val="0033CC"/>
                </a:solidFill>
              </a:rPr>
              <a:t>Real-world relevance:</a:t>
            </a:r>
          </a:p>
          <a:p>
            <a:r>
              <a:rPr lang="en-US" sz="2800" dirty="0"/>
              <a:t>This system is widely applicable in educational institutions, corporate organizations, and communities where multiple events are conducted regularly. Similar systems are used in universities, tech fests, workshops, seminars, and conference management platforms.</a:t>
            </a:r>
          </a:p>
          <a:p>
            <a:r>
              <a:rPr lang="en-US" sz="2800" b="1" dirty="0">
                <a:solidFill>
                  <a:srgbClr val="0033CC"/>
                </a:solidFill>
              </a:rPr>
              <a:t>Brief overview of the system:</a:t>
            </a:r>
          </a:p>
          <a:p>
            <a:r>
              <a:rPr lang="en-US" sz="2800" dirty="0"/>
              <a:t>A responsive web-based application that allows users (students and organizers) to view, register, and manage campus events.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209800" y="1638300"/>
            <a:ext cx="15082325" cy="11233845"/>
          </a:xfrm>
          <a:prstGeom prst="rect">
            <a:avLst/>
          </a:prstGeom>
          <a:noFill/>
        </p:spPr>
        <p:txBody>
          <a:bodyPr wrap="square" rtlCol="0">
            <a:spAutoFit/>
          </a:bodyPr>
          <a:lstStyle/>
          <a:p>
            <a:endParaRPr lang="en-US" sz="2800" dirty="0"/>
          </a:p>
          <a:p>
            <a:pPr algn="just"/>
            <a:endParaRPr lang="en-US" sz="3600" dirty="0"/>
          </a:p>
          <a:p>
            <a:pPr algn="just"/>
            <a:r>
              <a:rPr lang="en-US" sz="3600" dirty="0"/>
              <a:t>In many educational institutions, campus events such as workshops, seminars, cultural programs, and technical fests are managed using manual methods or disconnected digital tools. This often leads to problems like inefficient communication, difficulty in event registration, data mismanagement, lack of real-time updates, and poor coordination between organizers and participants.</a:t>
            </a:r>
          </a:p>
          <a:p>
            <a:pPr algn="just"/>
            <a:r>
              <a:rPr lang="en-US" sz="3600" dirty="0"/>
              <a:t>There is a need for a centralized, user-friendly system that can streamline the process of event creation, registration, and management. The system should allow organizers to efficiently manage event details and participants, while enabling students to easily browse events, register, and receive timely updates.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ECF44C-3A6A-61F9-DEBF-B1DBF52B9055}"/>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30A2D9EF-3C57-82E0-04B1-90D1F536D88E}"/>
              </a:ext>
            </a:extLst>
          </p:cNvPr>
          <p:cNvGrpSpPr/>
          <p:nvPr/>
        </p:nvGrpSpPr>
        <p:grpSpPr>
          <a:xfrm>
            <a:off x="709357" y="3315742"/>
            <a:ext cx="992463" cy="992463"/>
            <a:chOff x="0" y="0"/>
            <a:chExt cx="812800" cy="812800"/>
          </a:xfrm>
        </p:grpSpPr>
        <p:sp>
          <p:nvSpPr>
            <p:cNvPr id="8" name="Freeform 8">
              <a:extLst>
                <a:ext uri="{FF2B5EF4-FFF2-40B4-BE49-F238E27FC236}">
                  <a16:creationId xmlns:a16="http://schemas.microsoft.com/office/drawing/2014/main" id="{B417789A-82A8-F7A7-F75D-4B2CD5F2899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59ECF7D2-6B7D-BD82-7D57-941FC06D2AD6}"/>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a:extLst>
              <a:ext uri="{FF2B5EF4-FFF2-40B4-BE49-F238E27FC236}">
                <a16:creationId xmlns:a16="http://schemas.microsoft.com/office/drawing/2014/main" id="{2B6D688C-3296-D7A3-90B4-28B437404732}"/>
              </a:ext>
            </a:extLst>
          </p:cNvPr>
          <p:cNvGrpSpPr/>
          <p:nvPr/>
        </p:nvGrpSpPr>
        <p:grpSpPr>
          <a:xfrm>
            <a:off x="951509" y="4428296"/>
            <a:ext cx="508158" cy="543805"/>
            <a:chOff x="0" y="0"/>
            <a:chExt cx="812800" cy="869819"/>
          </a:xfrm>
        </p:grpSpPr>
        <p:sp>
          <p:nvSpPr>
            <p:cNvPr id="11" name="Freeform 11">
              <a:extLst>
                <a:ext uri="{FF2B5EF4-FFF2-40B4-BE49-F238E27FC236}">
                  <a16:creationId xmlns:a16="http://schemas.microsoft.com/office/drawing/2014/main" id="{D1D724A0-304F-01EA-1DF6-78194FEE9A7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9ABEF89B-7A7D-29BB-5B68-59D013056AF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a:extLst>
              <a:ext uri="{FF2B5EF4-FFF2-40B4-BE49-F238E27FC236}">
                <a16:creationId xmlns:a16="http://schemas.microsoft.com/office/drawing/2014/main" id="{A95B6EC6-21C4-EE58-C31F-690F79788EBD}"/>
              </a:ext>
            </a:extLst>
          </p:cNvPr>
          <p:cNvGrpSpPr/>
          <p:nvPr/>
        </p:nvGrpSpPr>
        <p:grpSpPr>
          <a:xfrm>
            <a:off x="951509" y="1982349"/>
            <a:ext cx="508158" cy="543805"/>
            <a:chOff x="0" y="0"/>
            <a:chExt cx="812800" cy="869819"/>
          </a:xfrm>
        </p:grpSpPr>
        <p:sp>
          <p:nvSpPr>
            <p:cNvPr id="14" name="Freeform 14">
              <a:extLst>
                <a:ext uri="{FF2B5EF4-FFF2-40B4-BE49-F238E27FC236}">
                  <a16:creationId xmlns:a16="http://schemas.microsoft.com/office/drawing/2014/main" id="{DB5B2A85-D44E-1001-B4D9-34432D1F85D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9017DAB1-A30D-5C7A-8C04-98647CFFF06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F85BB16-64DA-2E26-3BA5-2AB95ACAB131}"/>
              </a:ext>
            </a:extLst>
          </p:cNvPr>
          <p:cNvGrpSpPr/>
          <p:nvPr/>
        </p:nvGrpSpPr>
        <p:grpSpPr>
          <a:xfrm>
            <a:off x="951509" y="5094059"/>
            <a:ext cx="508158" cy="543805"/>
            <a:chOff x="0" y="0"/>
            <a:chExt cx="812800" cy="869819"/>
          </a:xfrm>
        </p:grpSpPr>
        <p:sp>
          <p:nvSpPr>
            <p:cNvPr id="17" name="Freeform 17">
              <a:extLst>
                <a:ext uri="{FF2B5EF4-FFF2-40B4-BE49-F238E27FC236}">
                  <a16:creationId xmlns:a16="http://schemas.microsoft.com/office/drawing/2014/main" id="{6A0854A9-00A1-E778-7DB6-551B636304D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2E313C11-FA98-F825-B114-0082E161100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a:extLst>
              <a:ext uri="{FF2B5EF4-FFF2-40B4-BE49-F238E27FC236}">
                <a16:creationId xmlns:a16="http://schemas.microsoft.com/office/drawing/2014/main" id="{E01E7D99-E13A-20BB-41F3-18AE78F02CC6}"/>
              </a:ext>
            </a:extLst>
          </p:cNvPr>
          <p:cNvGrpSpPr/>
          <p:nvPr/>
        </p:nvGrpSpPr>
        <p:grpSpPr>
          <a:xfrm>
            <a:off x="951509" y="2648112"/>
            <a:ext cx="508158" cy="543805"/>
            <a:chOff x="0" y="0"/>
            <a:chExt cx="812800" cy="869819"/>
          </a:xfrm>
        </p:grpSpPr>
        <p:sp>
          <p:nvSpPr>
            <p:cNvPr id="20" name="Freeform 20">
              <a:extLst>
                <a:ext uri="{FF2B5EF4-FFF2-40B4-BE49-F238E27FC236}">
                  <a16:creationId xmlns:a16="http://schemas.microsoft.com/office/drawing/2014/main" id="{490378CE-0ABE-56B7-E9FC-61B39C96CC6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1CFEE168-7D2B-577C-74F7-FF2A04F8E14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F6109A25-67E2-D257-7147-FD3538CB2589}"/>
              </a:ext>
            </a:extLst>
          </p:cNvPr>
          <p:cNvGrpSpPr/>
          <p:nvPr/>
        </p:nvGrpSpPr>
        <p:grpSpPr>
          <a:xfrm>
            <a:off x="951509" y="6425585"/>
            <a:ext cx="508158" cy="543805"/>
            <a:chOff x="0" y="0"/>
            <a:chExt cx="812800" cy="869819"/>
          </a:xfrm>
        </p:grpSpPr>
        <p:sp>
          <p:nvSpPr>
            <p:cNvPr id="23" name="Freeform 23">
              <a:extLst>
                <a:ext uri="{FF2B5EF4-FFF2-40B4-BE49-F238E27FC236}">
                  <a16:creationId xmlns:a16="http://schemas.microsoft.com/office/drawing/2014/main" id="{C7843FD7-CA1D-A762-4CB1-107005E4038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C3C76395-FCA2-92E0-3849-5053101467B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a:extLst>
              <a:ext uri="{FF2B5EF4-FFF2-40B4-BE49-F238E27FC236}">
                <a16:creationId xmlns:a16="http://schemas.microsoft.com/office/drawing/2014/main" id="{F543968C-9FA4-2726-35C6-F58CC26C0D18}"/>
              </a:ext>
            </a:extLst>
          </p:cNvPr>
          <p:cNvGrpSpPr/>
          <p:nvPr/>
        </p:nvGrpSpPr>
        <p:grpSpPr>
          <a:xfrm>
            <a:off x="951509" y="5759822"/>
            <a:ext cx="508158" cy="543805"/>
            <a:chOff x="0" y="0"/>
            <a:chExt cx="812800" cy="869819"/>
          </a:xfrm>
        </p:grpSpPr>
        <p:sp>
          <p:nvSpPr>
            <p:cNvPr id="26" name="Freeform 26">
              <a:extLst>
                <a:ext uri="{FF2B5EF4-FFF2-40B4-BE49-F238E27FC236}">
                  <a16:creationId xmlns:a16="http://schemas.microsoft.com/office/drawing/2014/main" id="{B2979C76-7095-8973-B8FB-9E924C0BC8E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4E9021A3-1A2A-2451-E8E9-42755A19911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a:extLst>
              <a:ext uri="{FF2B5EF4-FFF2-40B4-BE49-F238E27FC236}">
                <a16:creationId xmlns:a16="http://schemas.microsoft.com/office/drawing/2014/main" id="{8A0DE3E0-B22D-7FFE-9F45-AC7E3DCA5478}"/>
              </a:ext>
            </a:extLst>
          </p:cNvPr>
          <p:cNvGrpSpPr/>
          <p:nvPr/>
        </p:nvGrpSpPr>
        <p:grpSpPr>
          <a:xfrm>
            <a:off x="951509" y="7093216"/>
            <a:ext cx="508158" cy="543805"/>
            <a:chOff x="0" y="0"/>
            <a:chExt cx="812800" cy="869819"/>
          </a:xfrm>
        </p:grpSpPr>
        <p:sp>
          <p:nvSpPr>
            <p:cNvPr id="42" name="Freeform 42">
              <a:extLst>
                <a:ext uri="{FF2B5EF4-FFF2-40B4-BE49-F238E27FC236}">
                  <a16:creationId xmlns:a16="http://schemas.microsoft.com/office/drawing/2014/main" id="{6C38017D-432E-3688-A541-06447F86198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3" name="TextBox 43">
              <a:extLst>
                <a:ext uri="{FF2B5EF4-FFF2-40B4-BE49-F238E27FC236}">
                  <a16:creationId xmlns:a16="http://schemas.microsoft.com/office/drawing/2014/main" id="{05855C47-B8A4-10B8-A714-D679E659ABB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a:extLst>
              <a:ext uri="{FF2B5EF4-FFF2-40B4-BE49-F238E27FC236}">
                <a16:creationId xmlns:a16="http://schemas.microsoft.com/office/drawing/2014/main" id="{ACBC5A96-8002-8F93-F81E-BC3B7AC7EA90}"/>
              </a:ext>
            </a:extLst>
          </p:cNvPr>
          <p:cNvGrpSpPr/>
          <p:nvPr/>
        </p:nvGrpSpPr>
        <p:grpSpPr>
          <a:xfrm>
            <a:off x="951509" y="7760846"/>
            <a:ext cx="508158" cy="543805"/>
            <a:chOff x="0" y="0"/>
            <a:chExt cx="812800" cy="869819"/>
          </a:xfrm>
        </p:grpSpPr>
        <p:sp>
          <p:nvSpPr>
            <p:cNvPr id="45" name="Freeform 45">
              <a:extLst>
                <a:ext uri="{FF2B5EF4-FFF2-40B4-BE49-F238E27FC236}">
                  <a16:creationId xmlns:a16="http://schemas.microsoft.com/office/drawing/2014/main" id="{7067D554-C906-2C11-8FAF-0B02C625CA6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6" name="TextBox 46">
              <a:extLst>
                <a:ext uri="{FF2B5EF4-FFF2-40B4-BE49-F238E27FC236}">
                  <a16:creationId xmlns:a16="http://schemas.microsoft.com/office/drawing/2014/main" id="{22025C1F-E9DF-6DAB-349F-056178DC167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241003D7-40EB-1B43-8055-662AFD917F3F}"/>
              </a:ext>
            </a:extLst>
          </p:cNvPr>
          <p:cNvSpPr txBox="1"/>
          <p:nvPr/>
        </p:nvSpPr>
        <p:spPr>
          <a:xfrm>
            <a:off x="76200" y="436947"/>
            <a:ext cx="17907000" cy="830997"/>
          </a:xfrm>
          <a:prstGeom prst="rect">
            <a:avLst/>
          </a:prstGeom>
          <a:noFill/>
        </p:spPr>
        <p:txBody>
          <a:bodyPr wrap="square" rtlCol="0">
            <a:spAutoFit/>
          </a:bodyPr>
          <a:lstStyle/>
          <a:p>
            <a:pPr algn="ctr"/>
            <a:r>
              <a:rPr lang="en-IN" sz="4800" dirty="0">
                <a:solidFill>
                  <a:srgbClr val="0033CC"/>
                </a:solidFill>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4AC1CEB6-8DDD-9183-7B00-78A0EA658288}"/>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3" name="Rectangle 8">
            <a:extLst>
              <a:ext uri="{FF2B5EF4-FFF2-40B4-BE49-F238E27FC236}">
                <a16:creationId xmlns:a16="http://schemas.microsoft.com/office/drawing/2014/main" id="{51A39070-8B69-3EDC-93BB-1BF2EBFAC059}"/>
              </a:ext>
            </a:extLst>
          </p:cNvPr>
          <p:cNvSpPr>
            <a:spLocks noChangeArrowheads="1"/>
          </p:cNvSpPr>
          <p:nvPr/>
        </p:nvSpPr>
        <p:spPr bwMode="auto">
          <a:xfrm rot="10800000" flipV="1">
            <a:off x="1981200" y="1905671"/>
            <a:ext cx="16306800" cy="56938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571500" marR="0" lvl="0" indent="-5715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To design and develop a centralized system for managing events efficiently.</a:t>
            </a:r>
          </a:p>
          <a:p>
            <a:pPr marR="0" lvl="0" algn="l" defTabSz="914400" rtl="0" eaLnBrk="0" fontAlgn="base" latinLnBrk="0" hangingPunct="0">
              <a:lnSpc>
                <a:spcPct val="100000"/>
              </a:lnSpc>
              <a:spcBef>
                <a:spcPct val="0"/>
              </a:spcBef>
              <a:spcAft>
                <a:spcPct val="0"/>
              </a:spcAft>
              <a:buClrTx/>
              <a:buSzTx/>
              <a:tabLst/>
            </a:pPr>
            <a:r>
              <a:rPr kumimoji="0" lang="en-US" altLang="en-US" sz="3600" b="0" i="0" u="none" strike="noStrike" cap="none" normalizeH="0" baseline="0" dirty="0">
                <a:ln>
                  <a:noFill/>
                </a:ln>
                <a:solidFill>
                  <a:schemeClr val="tx1"/>
                </a:solidFill>
                <a:effectLst/>
                <a:latin typeface="Arial" panose="020B0604020202020204" pitchFamily="34" charset="0"/>
              </a:rPr>
              <a:t> </a:t>
            </a:r>
          </a:p>
          <a:p>
            <a:pPr marL="571500" marR="0" lvl="0" indent="-5715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To provide a user-friendly interface for browsing and registering for events</a:t>
            </a:r>
            <a:r>
              <a:rPr lang="en-US" altLang="en-US" sz="3600" dirty="0">
                <a:latin typeface="Arial" panose="020B0604020202020204" pitchFamily="34" charset="0"/>
              </a:rPr>
              <a:t>.</a:t>
            </a:r>
          </a:p>
          <a:p>
            <a:pPr marR="0" lvl="0" algn="l" defTabSz="914400" rtl="0" eaLnBrk="0" fontAlgn="base" latinLnBrk="0" hangingPunct="0">
              <a:lnSpc>
                <a:spcPct val="100000"/>
              </a:lnSpc>
              <a:spcBef>
                <a:spcPct val="0"/>
              </a:spcBef>
              <a:spcAft>
                <a:spcPct val="0"/>
              </a:spcAft>
              <a:buClrTx/>
              <a:buSzTx/>
              <a:tabLst/>
            </a:pPr>
            <a:r>
              <a:rPr kumimoji="0" lang="en-US" altLang="en-US" sz="3600" b="0" i="0" u="none" strike="noStrike" cap="none" normalizeH="0" baseline="0" dirty="0">
                <a:ln>
                  <a:noFill/>
                </a:ln>
                <a:solidFill>
                  <a:schemeClr val="tx1"/>
                </a:solidFill>
                <a:effectLst/>
                <a:latin typeface="Arial" panose="020B0604020202020204" pitchFamily="34" charset="0"/>
              </a:rPr>
              <a:t> </a:t>
            </a:r>
          </a:p>
          <a:p>
            <a:pPr marL="571500" marR="0" lvl="0" indent="-5715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To enable organizers to create, update, and manage event details easily. </a:t>
            </a:r>
          </a:p>
          <a:p>
            <a:pPr marR="0" lvl="0" algn="l" defTabSz="914400" rtl="0" eaLnBrk="0" fontAlgn="base" latinLnBrk="0" hangingPunct="0">
              <a:lnSpc>
                <a:spcPct val="100000"/>
              </a:lnSpc>
              <a:spcBef>
                <a:spcPct val="0"/>
              </a:spcBef>
              <a:spcAft>
                <a:spcPct val="0"/>
              </a:spcAft>
              <a:buClrTx/>
              <a:buSzTx/>
              <a:tabLst/>
            </a:pP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571500" marR="0" lvl="0" indent="-5715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To store and manage event and participant data using </a:t>
            </a:r>
            <a:r>
              <a:rPr kumimoji="0" lang="en-US" altLang="en-US" sz="3600" b="0" i="0" u="none" strike="noStrike" cap="none" normalizeH="0" baseline="0" dirty="0" err="1">
                <a:ln>
                  <a:noFill/>
                </a:ln>
                <a:solidFill>
                  <a:schemeClr val="tx1"/>
                </a:solidFill>
                <a:effectLst/>
                <a:latin typeface="Arial" panose="020B0604020202020204" pitchFamily="34" charset="0"/>
              </a:rPr>
              <a:t>MySql</a:t>
            </a:r>
            <a:r>
              <a:rPr lang="en-US" altLang="en-US" sz="3600" dirty="0">
                <a:latin typeface="Arial" panose="020B0604020202020204" pitchFamily="34" charset="0"/>
              </a:rPr>
              <a:t> </a:t>
            </a:r>
            <a:r>
              <a:rPr lang="en-US" altLang="en-US" sz="3600" dirty="0" err="1">
                <a:latin typeface="Arial" panose="020B0604020202020204" pitchFamily="34" charset="0"/>
              </a:rPr>
              <a:t>Database</a:t>
            </a:r>
            <a:r>
              <a:rPr kumimoji="0" lang="en-US" altLang="en-US" sz="3600" b="0" i="0" u="none" strike="noStrike" cap="none" normalizeH="0" baseline="0" dirty="0" err="1">
                <a:ln>
                  <a:noFill/>
                </a:ln>
                <a:solidFill>
                  <a:schemeClr val="tx1"/>
                </a:solidFill>
                <a:effectLst/>
                <a:latin typeface="Arial" panose="020B0604020202020204" pitchFamily="34" charset="0"/>
              </a:rPr>
              <a:t>for</a:t>
            </a:r>
            <a:r>
              <a:rPr kumimoji="0" lang="en-US" altLang="en-US" sz="3600" b="0" i="0" u="none" strike="noStrike" cap="none" normalizeH="0" baseline="0" dirty="0">
                <a:ln>
                  <a:noFill/>
                </a:ln>
                <a:solidFill>
                  <a:schemeClr val="tx1"/>
                </a:solidFill>
                <a:effectLst/>
                <a:latin typeface="Arial" panose="020B0604020202020204" pitchFamily="34" charset="0"/>
              </a:rPr>
              <a:t> quick and lightweight database operations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R="0" lvl="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571500" lvl="0" indent="-571500" eaLnBrk="0" fontAlgn="base" hangingPunct="0">
              <a:spcBef>
                <a:spcPct val="0"/>
              </a:spcBef>
              <a:spcAft>
                <a:spcPct val="0"/>
              </a:spcAft>
              <a:buFont typeface="Arial" panose="020B0604020202020204" pitchFamily="34" charset="0"/>
              <a:buChar char="•"/>
            </a:pPr>
            <a:r>
              <a:rPr lang="en-US" sz="4000" dirty="0"/>
              <a:t>To reduce manual work and improve overall system efficiency.</a:t>
            </a:r>
            <a:endParaRPr kumimoji="0" lang="en-US" altLang="en-US" sz="4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4889024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571500" y="449270"/>
            <a:ext cx="17907000" cy="830997"/>
          </a:xfrm>
          <a:prstGeom prst="rect">
            <a:avLst/>
          </a:prstGeom>
          <a:noFill/>
        </p:spPr>
        <p:txBody>
          <a:bodyPr wrap="square" rtlCol="0">
            <a:spAutoFit/>
          </a:bodyPr>
          <a:lstStyle/>
          <a:p>
            <a:pPr algn="ctr"/>
            <a:r>
              <a:rPr lang="en-IN" sz="4800" dirty="0">
                <a:solidFill>
                  <a:srgbClr val="0033CC"/>
                </a:solidFill>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32" name="Rectangle 6">
            <a:extLst>
              <a:ext uri="{FF2B5EF4-FFF2-40B4-BE49-F238E27FC236}">
                <a16:creationId xmlns:a16="http://schemas.microsoft.com/office/drawing/2014/main" id="{E106C582-6BBC-0DC2-3A88-A32FC68580DE}"/>
              </a:ext>
            </a:extLst>
          </p:cNvPr>
          <p:cNvSpPr>
            <a:spLocks noChangeArrowheads="1"/>
          </p:cNvSpPr>
          <p:nvPr/>
        </p:nvSpPr>
        <p:spPr bwMode="auto">
          <a:xfrm>
            <a:off x="-1752600" y="4292914"/>
            <a:ext cx="15680075"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742950" marR="0" lvl="0" indent="-742950" algn="l" defTabSz="914400" rtl="0" eaLnBrk="0" fontAlgn="base" latinLnBrk="0" hangingPunct="0">
              <a:lnSpc>
                <a:spcPct val="100000"/>
              </a:lnSpc>
              <a:spcBef>
                <a:spcPct val="0"/>
              </a:spcBef>
              <a:spcAft>
                <a:spcPct val="0"/>
              </a:spcAft>
              <a:buClrTx/>
              <a:buSzTx/>
              <a:buFont typeface="+mj-lt"/>
              <a:buAutoNum type="arabicPeriod"/>
              <a:tabLst/>
            </a:pPr>
            <a:endParaRPr kumimoji="0" lang="en-US" altLang="en-US" sz="4000" b="0" i="0" u="none" strike="noStrike" cap="none" normalizeH="0" baseline="0" dirty="0">
              <a:ln>
                <a:noFill/>
              </a:ln>
              <a:solidFill>
                <a:schemeClr val="tx1"/>
              </a:solidFill>
              <a:effectLst/>
              <a:latin typeface="Arial" panose="020B0604020202020204" pitchFamily="34" charset="0"/>
            </a:endParaRPr>
          </a:p>
        </p:txBody>
      </p:sp>
      <p:sp>
        <p:nvSpPr>
          <p:cNvPr id="2" name="Rectangle 1">
            <a:extLst>
              <a:ext uri="{FF2B5EF4-FFF2-40B4-BE49-F238E27FC236}">
                <a16:creationId xmlns:a16="http://schemas.microsoft.com/office/drawing/2014/main" id="{29B0EF46-4736-2913-4348-E3AC7889E1F7}"/>
              </a:ext>
            </a:extLst>
          </p:cNvPr>
          <p:cNvSpPr>
            <a:spLocks noChangeArrowheads="1"/>
          </p:cNvSpPr>
          <p:nvPr/>
        </p:nvSpPr>
        <p:spPr bwMode="auto">
          <a:xfrm rot="10800000" flipV="1">
            <a:off x="1701819" y="1624504"/>
            <a:ext cx="16586181" cy="72943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Event management is often handled using manual or scattered systems.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Users face difficulty in finding and registering for events.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There is no centralized platform to manage event details efficiently. </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360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Organizers struggle to track participants and update event information. </a:t>
            </a:r>
          </a:p>
          <a:p>
            <a:pPr marL="0" marR="0" lvl="0" indent="0" algn="l" defTabSz="914400" rtl="0" eaLnBrk="0" fontAlgn="base" latinLnBrk="0" hangingPunct="0">
              <a:lnSpc>
                <a:spcPct val="100000"/>
              </a:lnSpc>
              <a:spcBef>
                <a:spcPct val="0"/>
              </a:spcBef>
              <a:spcAft>
                <a:spcPct val="0"/>
              </a:spcAft>
              <a:buClrTx/>
              <a:buSzTx/>
              <a:tabLst/>
            </a:pPr>
            <a:r>
              <a:rPr kumimoji="0" lang="en-US" altLang="en-US" sz="36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Existing systems do not provide smooth user experience.</a:t>
            </a:r>
          </a:p>
          <a:p>
            <a:pPr marL="0" marR="0" lvl="0" indent="0" algn="l" defTabSz="914400" rtl="0" eaLnBrk="0" fontAlgn="base" latinLnBrk="0" hangingPunct="0">
              <a:lnSpc>
                <a:spcPct val="100000"/>
              </a:lnSpc>
              <a:spcBef>
                <a:spcPct val="0"/>
              </a:spcBef>
              <a:spcAft>
                <a:spcPct val="0"/>
              </a:spcAft>
              <a:buClrTx/>
              <a:buSzTx/>
              <a:tabLst/>
            </a:pPr>
            <a:r>
              <a:rPr kumimoji="0" lang="en-US" altLang="en-US" sz="3600" b="0" i="0" u="none"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3600" b="0" i="0" u="none" strike="noStrike" cap="none" normalizeH="0" baseline="0" dirty="0">
                <a:ln>
                  <a:noFill/>
                </a:ln>
                <a:solidFill>
                  <a:schemeClr val="tx1"/>
                </a:solidFill>
                <a:effectLst/>
                <a:latin typeface="Arial" panose="020B0604020202020204" pitchFamily="34" charset="0"/>
              </a:rPr>
              <a:t>There is a need for a system that ensures efficient event handling. </a:t>
            </a:r>
          </a:p>
          <a:p>
            <a:pPr marL="0" marR="0" lvl="0" indent="0" algn="l" defTabSz="914400" rtl="0" eaLnBrk="0" fontAlgn="base" latinLnBrk="0" hangingPunct="0">
              <a:lnSpc>
                <a:spcPct val="100000"/>
              </a:lnSpc>
              <a:spcBef>
                <a:spcPct val="0"/>
              </a:spcBef>
              <a:spcAft>
                <a:spcPct val="0"/>
              </a:spcAft>
              <a:buClrTx/>
              <a:buSzTx/>
              <a:tabLst/>
            </a:pPr>
            <a:r>
              <a:rPr kumimoji="0" lang="en-US" altLang="en-US" sz="3600" b="0" i="0" u="none" strike="noStrike" cap="none" normalizeH="0" baseline="0" dirty="0">
                <a:ln>
                  <a:noFill/>
                </a:ln>
                <a:solidFill>
                  <a:schemeClr val="tx1"/>
                </a:solidFill>
                <a:effectLst/>
                <a:latin typeface="Arial" panose="020B0604020202020204" pitchFamily="34" charset="0"/>
              </a:rPr>
              <a:t>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3" name="TextBox 42">
            <a:extLst>
              <a:ext uri="{FF2B5EF4-FFF2-40B4-BE49-F238E27FC236}">
                <a16:creationId xmlns:a16="http://schemas.microsoft.com/office/drawing/2014/main" id="{25F9D4B0-38FE-DBA4-164D-1745B68379A5}"/>
              </a:ext>
            </a:extLst>
          </p:cNvPr>
          <p:cNvSpPr txBox="1"/>
          <p:nvPr/>
        </p:nvSpPr>
        <p:spPr>
          <a:xfrm>
            <a:off x="793167" y="2117811"/>
            <a:ext cx="19275947" cy="5262979"/>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descr="The image illustrates a software architecture diagram, showcasing the integration of a React-based frontend with a Spring Boot backend, featuring components such as REST APIs, user interfaces, state management, business logic, services, and a MySQL database for data storage.&#10;&#10;AI-generated content may be incorrect.">
            <a:extLst>
              <a:ext uri="{FF2B5EF4-FFF2-40B4-BE49-F238E27FC236}">
                <a16:creationId xmlns:a16="http://schemas.microsoft.com/office/drawing/2014/main" id="{068C2F7F-9BF5-C32F-E5A9-141705922AA3}"/>
              </a:ext>
            </a:extLst>
          </p:cNvPr>
          <p:cNvPicPr>
            <a:picLocks noChangeAspect="1"/>
          </p:cNvPicPr>
          <p:nvPr/>
        </p:nvPicPr>
        <p:blipFill>
          <a:blip r:embed="rId3"/>
          <a:stretch>
            <a:fillRect/>
          </a:stretch>
        </p:blipFill>
        <p:spPr>
          <a:xfrm>
            <a:off x="4419600" y="1373626"/>
            <a:ext cx="9982200" cy="815137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D04F3B99-A5D2-54DC-51CD-4E86A99D3EA2}"/>
              </a:ext>
            </a:extLst>
          </p:cNvPr>
          <p:cNvSpPr txBox="1"/>
          <p:nvPr/>
        </p:nvSpPr>
        <p:spPr>
          <a:xfrm>
            <a:off x="1775692" y="1638300"/>
            <a:ext cx="15516434" cy="4832092"/>
          </a:xfrm>
          <a:prstGeom prst="rect">
            <a:avLst/>
          </a:prstGeom>
          <a:noFill/>
        </p:spPr>
        <p:txBody>
          <a:bodyPr wrap="square" rtlCol="0">
            <a:spAutoFit/>
          </a:bodyPr>
          <a:lstStyle/>
          <a:p>
            <a:r>
              <a:rPr lang="en-US" sz="2800" dirty="0">
                <a:solidFill>
                  <a:srgbClr val="0033CC"/>
                </a:solidFill>
              </a:rPr>
              <a:t>Dataflow diagram:</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 name="Picture 3" descr="The diagram illustrates a sequence for an event management system where users browse events, register, attend, and receive confirmation, with data being stored in a database.&#10;&#10;AI-generated content may be incorrect.">
            <a:extLst>
              <a:ext uri="{FF2B5EF4-FFF2-40B4-BE49-F238E27FC236}">
                <a16:creationId xmlns:a16="http://schemas.microsoft.com/office/drawing/2014/main" id="{997E3315-7343-605D-5AC5-532BBE09D610}"/>
              </a:ext>
            </a:extLst>
          </p:cNvPr>
          <p:cNvPicPr>
            <a:picLocks noChangeAspect="1"/>
          </p:cNvPicPr>
          <p:nvPr/>
        </p:nvPicPr>
        <p:blipFill>
          <a:blip r:embed="rId3"/>
          <a:stretch>
            <a:fillRect/>
          </a:stretch>
        </p:blipFill>
        <p:spPr>
          <a:xfrm>
            <a:off x="1828800" y="2095500"/>
            <a:ext cx="14630400" cy="7924799"/>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209800" y="1638300"/>
            <a:ext cx="15082325" cy="14311610"/>
          </a:xfrm>
          <a:prstGeom prst="rect">
            <a:avLst/>
          </a:prstGeom>
          <a:noFill/>
        </p:spPr>
        <p:txBody>
          <a:bodyPr wrap="square" rtlCol="0">
            <a:spAutoFit/>
          </a:bodyPr>
          <a:lstStyle/>
          <a:p>
            <a:r>
              <a:rPr lang="en-US" sz="2800" dirty="0">
                <a:solidFill>
                  <a:srgbClr val="0033CC"/>
                </a:solidFill>
              </a:rPr>
              <a:t>Frontend:</a:t>
            </a:r>
          </a:p>
          <a:p>
            <a:endParaRPr lang="en-US" sz="2800" dirty="0">
              <a:solidFill>
                <a:srgbClr val="0033CC"/>
              </a:solidFill>
            </a:endParaRPr>
          </a:p>
          <a:p>
            <a:r>
              <a:rPr lang="en-US" sz="2800" dirty="0"/>
              <a:t>1.HTML5</a:t>
            </a:r>
          </a:p>
          <a:p>
            <a:r>
              <a:rPr lang="en-US" sz="2800" dirty="0"/>
              <a:t>2.CSS3</a:t>
            </a:r>
          </a:p>
          <a:p>
            <a:r>
              <a:rPr lang="en-US" sz="2800" dirty="0"/>
              <a:t>3.Javascript</a:t>
            </a:r>
          </a:p>
          <a:p>
            <a:endParaRPr lang="en-US" sz="2800" dirty="0"/>
          </a:p>
          <a:p>
            <a:r>
              <a:rPr lang="en-US" sz="2800" dirty="0">
                <a:solidFill>
                  <a:srgbClr val="0033CC"/>
                </a:solidFill>
              </a:rPr>
              <a:t>Backend:</a:t>
            </a:r>
          </a:p>
          <a:p>
            <a:endParaRPr lang="en-US" sz="2800" dirty="0">
              <a:solidFill>
                <a:srgbClr val="0033CC"/>
              </a:solidFill>
            </a:endParaRPr>
          </a:p>
          <a:p>
            <a:r>
              <a:rPr lang="en-US" sz="2800" dirty="0"/>
              <a:t>1.Java Spring Boot</a:t>
            </a:r>
          </a:p>
          <a:p>
            <a:r>
              <a:rPr lang="en-US" sz="2800" dirty="0"/>
              <a:t>2.</a:t>
            </a:r>
            <a:r>
              <a:rPr lang="en-US" altLang="en-US" sz="2800" dirty="0">
                <a:latin typeface="Arial" panose="020B0604020202020204" pitchFamily="34" charset="0"/>
              </a:rPr>
              <a:t> </a:t>
            </a:r>
            <a:r>
              <a:rPr lang="en-US" altLang="en-US" sz="2800" dirty="0" err="1">
                <a:latin typeface="Arial" panose="020B0604020202020204" pitchFamily="34" charset="0"/>
              </a:rPr>
              <a:t>MySql</a:t>
            </a:r>
            <a:r>
              <a:rPr lang="en-US" altLang="en-US" sz="2800" dirty="0">
                <a:latin typeface="Arial" panose="020B0604020202020204" pitchFamily="34" charset="0"/>
              </a:rPr>
              <a:t> Database</a:t>
            </a:r>
            <a:endParaRPr lang="en-US" sz="2800" dirty="0"/>
          </a:p>
          <a:p>
            <a:endParaRPr lang="en-US" sz="2800" dirty="0"/>
          </a:p>
          <a:p>
            <a:r>
              <a:rPr lang="en-US" sz="2800" dirty="0">
                <a:solidFill>
                  <a:srgbClr val="0033CC"/>
                </a:solidFill>
              </a:rPr>
              <a:t>Tools:</a:t>
            </a:r>
          </a:p>
          <a:p>
            <a:endParaRPr lang="en-US" sz="2800" dirty="0">
              <a:solidFill>
                <a:srgbClr val="0033CC"/>
              </a:solidFill>
            </a:endParaRPr>
          </a:p>
          <a:p>
            <a:r>
              <a:rPr lang="en-US" sz="2800" dirty="0"/>
              <a:t>1.Eclipse</a:t>
            </a:r>
          </a:p>
          <a:p>
            <a:endParaRPr lang="en-US" sz="2800" dirty="0"/>
          </a:p>
          <a:p>
            <a:r>
              <a:rPr lang="en-US" sz="2800" dirty="0">
                <a:solidFill>
                  <a:srgbClr val="0033CC"/>
                </a:solidFill>
              </a:rPr>
              <a:t>Software Requirements</a:t>
            </a:r>
            <a:r>
              <a:rPr lang="en-US" sz="2800" dirty="0"/>
              <a:t>:</a:t>
            </a:r>
          </a:p>
          <a:p>
            <a:endParaRPr lang="en-US" sz="2800" dirty="0"/>
          </a:p>
          <a:p>
            <a:r>
              <a:rPr lang="en-US" sz="2800" dirty="0"/>
              <a:t>1.Windows </a:t>
            </a:r>
          </a:p>
          <a:p>
            <a:r>
              <a:rPr lang="en-US" sz="2800" dirty="0"/>
              <a:t>2. Web Browser</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p:cNvGrpSpPr/>
          <p:nvPr/>
        </p:nvGrpSpPr>
        <p:grpSpPr>
          <a:xfrm>
            <a:off x="17170670" y="-178579"/>
            <a:ext cx="10994424" cy="10994424"/>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176975" y="1334586"/>
            <a:ext cx="15082325" cy="10433625"/>
          </a:xfrm>
          <a:prstGeom prst="rect">
            <a:avLst/>
          </a:prstGeom>
          <a:noFill/>
        </p:spPr>
        <p:txBody>
          <a:bodyPr wrap="square" rtlCol="0">
            <a:spAutoFit/>
          </a:bodyPr>
          <a:lstStyle/>
          <a:p>
            <a:endParaRPr lang="en-IN" sz="2800" b="1" dirty="0"/>
          </a:p>
          <a:p>
            <a:r>
              <a:rPr lang="en-US" sz="2800" b="1" dirty="0"/>
              <a:t>Module 1: Event Management:</a:t>
            </a:r>
          </a:p>
          <a:p>
            <a:pPr marL="457200" indent="-457200">
              <a:buFont typeface="Arial" panose="020B0604020202020204" pitchFamily="34" charset="0"/>
              <a:buChar char="•"/>
            </a:pPr>
            <a:r>
              <a:rPr lang="en-US" sz="2800" dirty="0"/>
              <a:t>Display Events Dynamically.</a:t>
            </a:r>
          </a:p>
          <a:p>
            <a:pPr marL="457200" indent="-457200">
              <a:buFont typeface="Arial" panose="020B0604020202020204" pitchFamily="34" charset="0"/>
              <a:buChar char="•"/>
            </a:pPr>
            <a:r>
              <a:rPr lang="en-US" sz="2800" dirty="0"/>
              <a:t>Organize Events By Category.</a:t>
            </a:r>
          </a:p>
          <a:p>
            <a:pPr marL="457200" indent="-457200">
              <a:buFont typeface="Arial" panose="020B0604020202020204" pitchFamily="34" charset="0"/>
              <a:buChar char="•"/>
            </a:pPr>
            <a:r>
              <a:rPr lang="en-US" sz="2800" dirty="0"/>
              <a:t>View Event Details.</a:t>
            </a:r>
          </a:p>
          <a:p>
            <a:endParaRPr lang="en-IN" sz="2800" dirty="0"/>
          </a:p>
          <a:p>
            <a:r>
              <a:rPr lang="en-US" sz="2800" b="1" dirty="0"/>
              <a:t>Module 2: Registration Management:</a:t>
            </a:r>
          </a:p>
          <a:p>
            <a:pPr marL="457200" indent="-457200">
              <a:buFont typeface="Arial" panose="020B0604020202020204" pitchFamily="34" charset="0"/>
              <a:buChar char="•"/>
            </a:pPr>
            <a:r>
              <a:rPr lang="en-US" sz="2800" dirty="0"/>
              <a:t>Register For Events.</a:t>
            </a:r>
          </a:p>
          <a:p>
            <a:pPr marL="457200" indent="-457200">
              <a:buFont typeface="Arial" panose="020B0604020202020204" pitchFamily="34" charset="0"/>
              <a:buChar char="•"/>
            </a:pPr>
            <a:r>
              <a:rPr lang="en-US" sz="2800" dirty="0"/>
              <a:t>Cancel Registration.</a:t>
            </a:r>
          </a:p>
          <a:p>
            <a:pPr marL="457200" indent="-457200">
              <a:buFont typeface="Arial" panose="020B0604020202020204" pitchFamily="34" charset="0"/>
              <a:buChar char="•"/>
            </a:pPr>
            <a:r>
              <a:rPr lang="en-US" sz="2800" dirty="0"/>
              <a:t>View Registered Events.</a:t>
            </a:r>
          </a:p>
          <a:p>
            <a:endParaRPr lang="en-IN" sz="2800" dirty="0"/>
          </a:p>
          <a:p>
            <a:r>
              <a:rPr lang="en-IN" sz="2800" b="1" dirty="0"/>
              <a:t>Module 3: Data Persistence Module:</a:t>
            </a:r>
          </a:p>
          <a:p>
            <a:pPr marL="457200" indent="-457200">
              <a:buFont typeface="Arial" panose="020B0604020202020204" pitchFamily="34" charset="0"/>
              <a:buChar char="•"/>
            </a:pPr>
            <a:r>
              <a:rPr lang="en-IN" sz="2800" dirty="0"/>
              <a:t>Stores Event &amp; User Data in </a:t>
            </a:r>
            <a:r>
              <a:rPr lang="en-IN" sz="2800" dirty="0" err="1"/>
              <a:t>MySql</a:t>
            </a:r>
            <a:r>
              <a:rPr lang="en-IN" sz="2800" dirty="0"/>
              <a:t> </a:t>
            </a:r>
            <a:r>
              <a:rPr lang="en-IN" sz="2800" dirty="0" err="1"/>
              <a:t>DataBase</a:t>
            </a:r>
            <a:r>
              <a:rPr lang="en-IN" sz="2800" dirty="0"/>
              <a:t>.</a:t>
            </a:r>
          </a:p>
          <a:p>
            <a:pPr marL="457200" indent="-457200">
              <a:buFont typeface="Arial" panose="020B0604020202020204" pitchFamily="34" charset="0"/>
              <a:buChar char="•"/>
            </a:pPr>
            <a:r>
              <a:rPr lang="en-IN" sz="2800" dirty="0"/>
              <a:t>Retrieves Data After Refresh.</a:t>
            </a:r>
          </a:p>
          <a:p>
            <a:endParaRPr lang="en-IN" sz="2800" dirty="0"/>
          </a:p>
          <a:p>
            <a:r>
              <a:rPr lang="en-US" sz="2800" b="1" dirty="0"/>
              <a:t>Module 4: Notification Module:</a:t>
            </a:r>
          </a:p>
          <a:p>
            <a:pPr marL="457200" indent="-457200">
              <a:buFont typeface="Arial" panose="020B0604020202020204" pitchFamily="34" charset="0"/>
              <a:buChar char="•"/>
            </a:pPr>
            <a:r>
              <a:rPr lang="en-US" sz="2800" dirty="0"/>
              <a:t>Send Confirmation Email After Registration.</a:t>
            </a:r>
          </a:p>
          <a:p>
            <a:pPr marL="457200" indent="-457200">
              <a:buFont typeface="Arial" panose="020B0604020202020204" pitchFamily="34" charset="0"/>
              <a:buChar char="•"/>
            </a:pPr>
            <a:r>
              <a:rPr lang="en-US" sz="2800" dirty="0"/>
              <a:t>Notify Users About Event Updates.</a:t>
            </a:r>
          </a:p>
          <a:p>
            <a:endParaRPr lang="en-IN" sz="2800" dirty="0"/>
          </a:p>
          <a:p>
            <a:endParaRPr lang="en-IN" sz="2800" dirty="0"/>
          </a:p>
          <a:p>
            <a:endParaRPr lang="en-IN" sz="2800" dirty="0"/>
          </a:p>
          <a:p>
            <a:endParaRPr lang="en-IN" sz="2800" dirty="0"/>
          </a:p>
          <a:p>
            <a:endParaRPr lang="en-IN" sz="2800" dirty="0"/>
          </a:p>
          <a:p>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746F2C30-13B1-3754-C147-D58A899BC459}"/>
              </a:ext>
            </a:extLst>
          </p:cNvPr>
          <p:cNvSpPr txBox="1"/>
          <p:nvPr/>
        </p:nvSpPr>
        <p:spPr>
          <a:xfrm>
            <a:off x="2343149" y="1663366"/>
            <a:ext cx="15082325" cy="6124754"/>
          </a:xfrm>
          <a:prstGeom prst="rect">
            <a:avLst/>
          </a:prstGeom>
          <a:noFill/>
        </p:spPr>
        <p:txBody>
          <a:bodyPr wrap="square" rtlCol="0">
            <a:spAutoFit/>
          </a:bodyPr>
          <a:lstStyle/>
          <a:p>
            <a:r>
              <a:rPr lang="en-US" sz="2800" dirty="0">
                <a:solidFill>
                  <a:srgbClr val="0033CC"/>
                </a:solidFill>
              </a:rPr>
              <a:t>Login Page :</a:t>
            </a:r>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descr="The image displays a Smart Campus login page with options to manage events, including workshops, seminars, and cultural events, along with a QR ticket registration option.&#10;&#10;AI-generated content may be incorrect.">
            <a:extLst>
              <a:ext uri="{FF2B5EF4-FFF2-40B4-BE49-F238E27FC236}">
                <a16:creationId xmlns:a16="http://schemas.microsoft.com/office/drawing/2014/main" id="{5B3972BC-1619-DB41-4A6F-D23F1BF137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6626" y="2169384"/>
            <a:ext cx="14688813" cy="7715492"/>
          </a:xfrm>
          <a:prstGeom prst="rect">
            <a:avLst/>
          </a:prstGeom>
        </p:spPr>
      </p:pic>
    </p:spTree>
    <p:extLst>
      <p:ext uri="{BB962C8B-B14F-4D97-AF65-F5344CB8AC3E}">
        <p14:creationId xmlns:p14="http://schemas.microsoft.com/office/powerpoint/2010/main" val="39811873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2502991" y="1293745"/>
            <a:ext cx="14826318" cy="6124754"/>
          </a:xfrm>
          <a:prstGeom prst="rect">
            <a:avLst/>
          </a:prstGeom>
          <a:noFill/>
        </p:spPr>
        <p:txBody>
          <a:bodyPr wrap="square" rtlCol="0">
            <a:spAutoFit/>
          </a:bodyPr>
          <a:lstStyle/>
          <a:p>
            <a:r>
              <a:rPr lang="en-US" sz="2800" dirty="0">
                <a:solidFill>
                  <a:srgbClr val="0033CC"/>
                </a:solidFill>
              </a:rPr>
              <a:t>Home Page:</a:t>
            </a:r>
          </a:p>
          <a:p>
            <a:endParaRPr lang="en-US" sz="2800" dirty="0">
              <a:solidFill>
                <a:srgbClr val="0033CC"/>
              </a:solidFill>
            </a:endParaRP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9" name="Picture 38" descr="The image is a webpage layout for a Campus Events page, featuring an event management system for scheduling workshops, seminars, and cultural events on campus.&#10;&#10;AI-generated content may be incorrect.">
            <a:extLst>
              <a:ext uri="{FF2B5EF4-FFF2-40B4-BE49-F238E27FC236}">
                <a16:creationId xmlns:a16="http://schemas.microsoft.com/office/drawing/2014/main" id="{7818A3FC-778D-AA31-D817-8FC78BC5B98B}"/>
              </a:ext>
            </a:extLst>
          </p:cNvPr>
          <p:cNvPicPr>
            <a:picLocks noChangeAspect="1"/>
          </p:cNvPicPr>
          <p:nvPr/>
        </p:nvPicPr>
        <p:blipFill>
          <a:blip r:embed="rId3"/>
          <a:stretch>
            <a:fillRect/>
          </a:stretch>
        </p:blipFill>
        <p:spPr>
          <a:xfrm>
            <a:off x="2295509" y="1930620"/>
            <a:ext cx="15003127" cy="7923179"/>
          </a:xfrm>
          <a:prstGeom prst="rect">
            <a:avLst/>
          </a:prstGeom>
        </p:spPr>
      </p:pic>
    </p:spTree>
    <p:extLst>
      <p:ext uri="{BB962C8B-B14F-4D97-AF65-F5344CB8AC3E}">
        <p14:creationId xmlns:p14="http://schemas.microsoft.com/office/powerpoint/2010/main" val="19981011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341A1FDE-E3AB-682A-64B7-DA145F23EB91}"/>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descr="The image displays a campus event calendar, featuring upcoming and past events, workshops, and technical sessions, including cultural nights, tech festivals, and hands-on workshops on topics like circuit design and Spring Boot programming.&#10;&#10;AI-generated content may be incorrect.">
            <a:extLst>
              <a:ext uri="{FF2B5EF4-FFF2-40B4-BE49-F238E27FC236}">
                <a16:creationId xmlns:a16="http://schemas.microsoft.com/office/drawing/2014/main" id="{EBEA20D4-7154-A99B-A734-B8F5B8039884}"/>
              </a:ext>
            </a:extLst>
          </p:cNvPr>
          <p:cNvPicPr>
            <a:picLocks noChangeAspect="1"/>
          </p:cNvPicPr>
          <p:nvPr/>
        </p:nvPicPr>
        <p:blipFill>
          <a:blip r:embed="rId3"/>
          <a:stretch>
            <a:fillRect/>
          </a:stretch>
        </p:blipFill>
        <p:spPr>
          <a:xfrm>
            <a:off x="2395171" y="1638300"/>
            <a:ext cx="14236947" cy="7412441"/>
          </a:xfrm>
          <a:prstGeom prst="rect">
            <a:avLst/>
          </a:prstGeom>
        </p:spPr>
      </p:pic>
    </p:spTree>
    <p:extLst>
      <p:ext uri="{BB962C8B-B14F-4D97-AF65-F5344CB8AC3E}">
        <p14:creationId xmlns:p14="http://schemas.microsoft.com/office/powerpoint/2010/main" val="848899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36FDE7-E5F9-0572-06BC-906871658AE5}"/>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1B927782-7826-FD9A-5081-16A759B27D1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22BCA8A6-3F99-1781-035C-9D0B5E90AD75}"/>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3C176BCB-6BDD-21E1-7755-4F51345EC11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6AA164B6-9F3D-562A-B30D-8DEC44FA6B7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5D377175-9420-A9ED-5B11-D2FA05D883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1466B8BF-767B-1CAA-C933-0CBCCD7F4A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FE51DD19-14F4-ED91-8726-0E7886D106A0}"/>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4289CE4E-8A9B-FD34-90ED-FF508E3B3CF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0B1E36BB-1084-2CF8-66FE-E7EF61104BD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88BC1AD-FF8C-4A43-2382-44E208F1B871}"/>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E98C425D-5EB4-FB3C-CFF8-7536D75382B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EBAE64A8-4B32-1376-1B72-7C9E1490897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F31FA3EF-E21D-0683-CC3B-B9472AB6E90E}"/>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822578D7-ABD0-E001-E21F-3B5E6C91F7B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C372DC7C-3DF6-CE29-CF8E-4EFF45942C6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DF28E5B1-7920-63C6-091F-0353834542FF}"/>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67CF8EC-CA60-BBF1-F5FA-41DECE6B962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9B26FBCD-2DCC-94AE-4A5C-BE904140977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BD0E081D-9AA3-5568-3331-5BC97DF171D4}"/>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8D1B764C-CB42-EE25-001E-76CD1D57C7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12CE94B9-095F-51DE-E944-16CEA695B6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8157FE65-BFDA-754B-1816-63AF59AD57E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B49E5082-AF35-AD8C-3EFF-E362E8CBF12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ABD332E7-0683-E9B9-EE4E-98C79409602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D87F15DB-A67E-7ABA-FBD7-DE3C1DD9283A}"/>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987DA79F-0B9C-2009-B970-AC53C974AF6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F784A015-0F6A-08B9-18E2-CC261FA1825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E62BC84D-0AC3-5496-1E0A-CAA937441D18}"/>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33FF6009-729E-013B-5842-C4CE8E1E668C}"/>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4735107-596D-A9DF-E727-2EC5C75E1CC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1AA4B7E9-F14F-7F72-48BD-97B68E885D53}"/>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7054A41C-BA6D-4703-FB4D-C5E7EA92601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12EFF502-800E-66CF-B603-E4433C3F2EBB}"/>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descr="The image displays an admin login page for a campus event management system, featuring fields for username, password, and various administrative options.&#10;&#10;AI-generated content may be incorrect.">
            <a:extLst>
              <a:ext uri="{FF2B5EF4-FFF2-40B4-BE49-F238E27FC236}">
                <a16:creationId xmlns:a16="http://schemas.microsoft.com/office/drawing/2014/main" id="{82E2E7B9-ECA0-5F2C-64A5-FDFD91AF6C1B}"/>
              </a:ext>
            </a:extLst>
          </p:cNvPr>
          <p:cNvPicPr>
            <a:picLocks noChangeAspect="1"/>
          </p:cNvPicPr>
          <p:nvPr/>
        </p:nvPicPr>
        <p:blipFill>
          <a:blip r:embed="rId3"/>
          <a:stretch>
            <a:fillRect/>
          </a:stretch>
        </p:blipFill>
        <p:spPr>
          <a:xfrm>
            <a:off x="2680849" y="1729573"/>
            <a:ext cx="14018773" cy="7342469"/>
          </a:xfrm>
          <a:prstGeom prst="rect">
            <a:avLst/>
          </a:prstGeom>
        </p:spPr>
      </p:pic>
    </p:spTree>
    <p:extLst>
      <p:ext uri="{BB962C8B-B14F-4D97-AF65-F5344CB8AC3E}">
        <p14:creationId xmlns:p14="http://schemas.microsoft.com/office/powerpoint/2010/main" val="27390645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D56B7E-F417-A80E-6D64-FB7ACE4E3D75}"/>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1FEA7DA2-6A04-FFAE-3333-70B04C5FBC67}"/>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469A9E35-B024-5FD7-4A1B-70AF68BA0BAA}"/>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9" name="TextBox 9">
              <a:extLst>
                <a:ext uri="{FF2B5EF4-FFF2-40B4-BE49-F238E27FC236}">
                  <a16:creationId xmlns:a16="http://schemas.microsoft.com/office/drawing/2014/main" id="{FDA76147-9368-097A-1907-A1E88948963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731F147D-768B-EEDF-CCA2-614528A881E5}"/>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239F28A-73E3-11E9-5609-26E53EA93DB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2" name="TextBox 12">
              <a:extLst>
                <a:ext uri="{FF2B5EF4-FFF2-40B4-BE49-F238E27FC236}">
                  <a16:creationId xmlns:a16="http://schemas.microsoft.com/office/drawing/2014/main" id="{5C88554F-7BA8-3610-926E-118C126ECBB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58671484-1DD4-7B4D-56AE-98A0ABEEAE43}"/>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41BC848D-D16A-914E-4FFD-A50AB957B31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5" name="TextBox 15">
              <a:extLst>
                <a:ext uri="{FF2B5EF4-FFF2-40B4-BE49-F238E27FC236}">
                  <a16:creationId xmlns:a16="http://schemas.microsoft.com/office/drawing/2014/main" id="{04F4C414-22D7-FF77-6BD0-62AC6FB0E0D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FB7AB9AC-16D5-4245-4C94-A7CBF2EDB6FE}"/>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398CD48F-1BF1-854B-2E91-0C94BF316A5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8" name="TextBox 18">
              <a:extLst>
                <a:ext uri="{FF2B5EF4-FFF2-40B4-BE49-F238E27FC236}">
                  <a16:creationId xmlns:a16="http://schemas.microsoft.com/office/drawing/2014/main" id="{C5A01686-95C9-E920-C9B7-E101A2B7616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87FA42-E771-67C8-71D6-39A34B6ADB5F}"/>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D85BEB6F-7781-C90F-56C0-44AE4EE0582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1" name="TextBox 21">
              <a:extLst>
                <a:ext uri="{FF2B5EF4-FFF2-40B4-BE49-F238E27FC236}">
                  <a16:creationId xmlns:a16="http://schemas.microsoft.com/office/drawing/2014/main" id="{0DA8EACE-4304-E9C2-B378-C72ECFB672F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BBD0902A-CD4B-7698-23FF-59DD4C782D5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9E7EFF76-8F41-6941-5566-CE01A58C7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4" name="TextBox 24">
              <a:extLst>
                <a:ext uri="{FF2B5EF4-FFF2-40B4-BE49-F238E27FC236}">
                  <a16:creationId xmlns:a16="http://schemas.microsoft.com/office/drawing/2014/main" id="{ADDB5745-48A6-7F26-83F0-C76CE85F245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B25927E-4393-EB6A-62C7-C8E94CEB9D4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D4A9D738-CB80-DF85-BAB5-487B994A3C0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7" name="TextBox 27">
              <a:extLst>
                <a:ext uri="{FF2B5EF4-FFF2-40B4-BE49-F238E27FC236}">
                  <a16:creationId xmlns:a16="http://schemas.microsoft.com/office/drawing/2014/main" id="{5B2016BC-2FBE-9D15-2638-AC656C4829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1C8FF0A-A151-DECE-9FCD-A8C7BD9292B8}"/>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7378EC3C-466A-0989-74A9-ABCC66ED67A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0" name="TextBox 30">
              <a:extLst>
                <a:ext uri="{FF2B5EF4-FFF2-40B4-BE49-F238E27FC236}">
                  <a16:creationId xmlns:a16="http://schemas.microsoft.com/office/drawing/2014/main" id="{FB7697F3-318D-E096-5F49-9100BF6A6AC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D5D58F5B-7ED6-5C1D-3C9C-F96DDA60E5A2}"/>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E02844B8-A6ED-CB93-9FE4-9F02E0C9BA4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3" name="TextBox 33">
              <a:extLst>
                <a:ext uri="{FF2B5EF4-FFF2-40B4-BE49-F238E27FC236}">
                  <a16:creationId xmlns:a16="http://schemas.microsoft.com/office/drawing/2014/main" id="{50118BD7-CD5B-7654-D4BD-8A483CD10C2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BA064837-28D5-E5EF-D84B-2CFE098C23CB}"/>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35" name="Group 35">
            <a:extLst>
              <a:ext uri="{FF2B5EF4-FFF2-40B4-BE49-F238E27FC236}">
                <a16:creationId xmlns:a16="http://schemas.microsoft.com/office/drawing/2014/main" id="{C74A29D0-01B0-26D6-49A8-236086F11DA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6991C-8D81-2F8C-5923-122A8E816D2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txBody>
            <a:bodyPr/>
            <a:lstStyle/>
            <a:p>
              <a:endParaRPr lang="en-IN"/>
            </a:p>
          </p:txBody>
        </p:sp>
        <p:sp>
          <p:nvSpPr>
            <p:cNvPr id="37" name="TextBox 37">
              <a:extLst>
                <a:ext uri="{FF2B5EF4-FFF2-40B4-BE49-F238E27FC236}">
                  <a16:creationId xmlns:a16="http://schemas.microsoft.com/office/drawing/2014/main" id="{1F0C4BBA-F77E-68D4-9BBA-2AB8CCBA57FF}"/>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E63F1BFE-0F6E-2951-01B9-0F0F9CE1D85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F0F61E78-E470-3548-577F-43E22470AE56}"/>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6" name="Picture 5" descr="The image displays an admin dashboard for an events management system, featuring a list of upcoming events, including workshops, seminars, and a cultural night, with details such as date, time, type, and seat availability.&#10;&#10;AI-generated content may be incorrect.">
            <a:extLst>
              <a:ext uri="{FF2B5EF4-FFF2-40B4-BE49-F238E27FC236}">
                <a16:creationId xmlns:a16="http://schemas.microsoft.com/office/drawing/2014/main" id="{A0B21AE4-0AE4-F8E4-AD0D-9160EF2D6B9D}"/>
              </a:ext>
            </a:extLst>
          </p:cNvPr>
          <p:cNvPicPr>
            <a:picLocks noChangeAspect="1"/>
          </p:cNvPicPr>
          <p:nvPr/>
        </p:nvPicPr>
        <p:blipFill>
          <a:blip r:embed="rId3"/>
          <a:stretch>
            <a:fillRect/>
          </a:stretch>
        </p:blipFill>
        <p:spPr>
          <a:xfrm>
            <a:off x="2338651" y="1527131"/>
            <a:ext cx="14447709" cy="7649238"/>
          </a:xfrm>
          <a:prstGeom prst="rect">
            <a:avLst/>
          </a:prstGeom>
        </p:spPr>
      </p:pic>
    </p:spTree>
    <p:extLst>
      <p:ext uri="{BB962C8B-B14F-4D97-AF65-F5344CB8AC3E}">
        <p14:creationId xmlns:p14="http://schemas.microsoft.com/office/powerpoint/2010/main" val="41088977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txBody>
            <a:bodyPr/>
            <a:lstStyle/>
            <a:p>
              <a:endParaRPr lang="en-IN"/>
            </a:p>
          </p:txBody>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txBody>
            <a:bodyPr/>
            <a:lstStyle/>
            <a:p>
              <a:endParaRPr lang="en-IN"/>
            </a:p>
          </p:txBody>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grpSp>
        <p:nvGrpSpPr>
          <p:cNvPr id="44" name="Group 44">
            <a:extLst>
              <a:ext uri="{FF2B5EF4-FFF2-40B4-BE49-F238E27FC236}">
                <a16:creationId xmlns:a16="http://schemas.microsoft.com/office/drawing/2014/main" id="{FBD0A79F-CA0B-2560-37ED-E07624B11027}"/>
              </a:ext>
            </a:extLst>
          </p:cNvPr>
          <p:cNvGrpSpPr/>
          <p:nvPr/>
        </p:nvGrpSpPr>
        <p:grpSpPr>
          <a:xfrm>
            <a:off x="16786360" y="-353712"/>
            <a:ext cx="10994424" cy="10994424"/>
            <a:chOff x="0" y="0"/>
            <a:chExt cx="812800" cy="812800"/>
          </a:xfrm>
        </p:grpSpPr>
        <p:sp>
          <p:nvSpPr>
            <p:cNvPr id="45" name="Freeform 45">
              <a:extLst>
                <a:ext uri="{FF2B5EF4-FFF2-40B4-BE49-F238E27FC236}">
                  <a16:creationId xmlns:a16="http://schemas.microsoft.com/office/drawing/2014/main" id="{25583CD3-FA12-1B53-043B-9FE4E18BA02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IN"/>
            </a:p>
          </p:txBody>
        </p:sp>
        <p:sp>
          <p:nvSpPr>
            <p:cNvPr id="46" name="TextBox 46">
              <a:extLst>
                <a:ext uri="{FF2B5EF4-FFF2-40B4-BE49-F238E27FC236}">
                  <a16:creationId xmlns:a16="http://schemas.microsoft.com/office/drawing/2014/main" id="{FA405478-0BA8-4A85-A81A-B9346174FE6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9F67AE5-ECE1-F1EA-A904-8B0B018D3538}"/>
              </a:ext>
            </a:extLst>
          </p:cNvPr>
          <p:cNvSpPr txBox="1"/>
          <p:nvPr/>
        </p:nvSpPr>
        <p:spPr>
          <a:xfrm>
            <a:off x="2209801" y="1638301"/>
            <a:ext cx="14576560" cy="7540526"/>
          </a:xfrm>
          <a:prstGeom prst="rect">
            <a:avLst/>
          </a:prstGeom>
          <a:noFill/>
          <a:ln>
            <a:noFill/>
          </a:ln>
        </p:spPr>
        <p:txBody>
          <a:bodyPr wrap="square" rtlCol="0">
            <a:spAutoFit/>
          </a:bodyPr>
          <a:lstStyle/>
          <a:p>
            <a:pPr marL="457200" indent="-457200">
              <a:buFontTx/>
              <a:buChar char="-"/>
            </a:pPr>
            <a:endParaRPr lang="en-US" sz="2800" dirty="0"/>
          </a:p>
          <a:p>
            <a:r>
              <a:rPr lang="en-US" sz="2800" b="1" dirty="0">
                <a:solidFill>
                  <a:srgbClr val="0033CC"/>
                </a:solidFill>
              </a:rPr>
              <a:t>Advantages:</a:t>
            </a:r>
          </a:p>
          <a:p>
            <a:pPr marL="457200" indent="-457200">
              <a:buFont typeface="Arial" panose="020B0604020202020204" pitchFamily="34" charset="0"/>
              <a:buChar char="•"/>
            </a:pPr>
            <a:r>
              <a:rPr lang="en-US" sz="2800" dirty="0"/>
              <a:t>Easy event registration process. </a:t>
            </a:r>
          </a:p>
          <a:p>
            <a:pPr marL="457200" indent="-457200">
              <a:buFont typeface="Arial" panose="020B0604020202020204" pitchFamily="34" charset="0"/>
              <a:buChar char="•"/>
            </a:pPr>
            <a:r>
              <a:rPr lang="en-US" sz="2800" dirty="0"/>
              <a:t>Data persistence using </a:t>
            </a:r>
            <a:r>
              <a:rPr lang="en-US" altLang="en-US" sz="2800" dirty="0" err="1">
                <a:latin typeface="Arial" panose="020B0604020202020204" pitchFamily="34" charset="0"/>
              </a:rPr>
              <a:t>MySql</a:t>
            </a:r>
            <a:r>
              <a:rPr lang="en-US" altLang="en-US" sz="2800" dirty="0">
                <a:latin typeface="Arial" panose="020B0604020202020204" pitchFamily="34" charset="0"/>
              </a:rPr>
              <a:t> </a:t>
            </a:r>
            <a:r>
              <a:rPr lang="en-US" sz="2800" dirty="0"/>
              <a:t>Database. </a:t>
            </a:r>
          </a:p>
          <a:p>
            <a:pPr marL="457200" indent="-457200">
              <a:buFont typeface="Arial" panose="020B0604020202020204" pitchFamily="34" charset="0"/>
              <a:buChar char="•"/>
            </a:pPr>
            <a:r>
              <a:rPr lang="en-US" sz="2800" dirty="0"/>
              <a:t>Real-time updates for users. </a:t>
            </a:r>
          </a:p>
          <a:p>
            <a:pPr marL="457200" indent="-457200">
              <a:buFont typeface="Arial" panose="020B0604020202020204" pitchFamily="34" charset="0"/>
              <a:buChar char="•"/>
            </a:pPr>
            <a:r>
              <a:rPr lang="en-US" sz="2800" dirty="0"/>
              <a:t>Improves coordination and reduces manual work. </a:t>
            </a:r>
          </a:p>
          <a:p>
            <a:pPr marL="457200" indent="-457200">
              <a:buFont typeface="Arial" panose="020B0604020202020204" pitchFamily="34" charset="0"/>
              <a:buChar char="•"/>
            </a:pPr>
            <a:r>
              <a:rPr lang="en-US" sz="2800" dirty="0"/>
              <a:t>User-friendly and responsive interface.</a:t>
            </a:r>
          </a:p>
          <a:p>
            <a:pPr marL="457200" indent="-457200">
              <a:buFontTx/>
              <a:buChar char="-"/>
            </a:pPr>
            <a:endParaRPr lang="en-US" sz="2800" dirty="0"/>
          </a:p>
          <a:p>
            <a:r>
              <a:rPr lang="en-US" sz="2800" b="1" dirty="0">
                <a:solidFill>
                  <a:srgbClr val="0033CC"/>
                </a:solidFill>
              </a:rPr>
              <a:t>Limitations:</a:t>
            </a:r>
          </a:p>
          <a:p>
            <a:pPr marL="457200" indent="-457200">
              <a:buFont typeface="Arial" panose="020B0604020202020204" pitchFamily="34" charset="0"/>
              <a:buChar char="•"/>
            </a:pPr>
            <a:r>
              <a:rPr lang="en-US" sz="2800" dirty="0"/>
              <a:t>Limited scalability for large-scale usage.</a:t>
            </a:r>
          </a:p>
          <a:p>
            <a:pPr marL="457200" indent="-457200">
              <a:buFont typeface="Arial" panose="020B0604020202020204" pitchFamily="34" charset="0"/>
              <a:buChar char="•"/>
            </a:pPr>
            <a:r>
              <a:rPr lang="en-US" sz="2800" dirty="0"/>
              <a:t>Basic notification system email only.</a:t>
            </a:r>
          </a:p>
          <a:p>
            <a:pPr marL="457200" indent="-457200">
              <a:buFont typeface="Arial" panose="020B0604020202020204" pitchFamily="34" charset="0"/>
              <a:buChar char="•"/>
            </a:pPr>
            <a:r>
              <a:rPr lang="en-US" sz="2800" dirty="0"/>
              <a:t>Less support for advanced analytics features.</a:t>
            </a:r>
          </a:p>
          <a:p>
            <a:pPr marL="457200" indent="-457200">
              <a:buFont typeface="Arial" panose="020B0604020202020204" pitchFamily="34" charset="0"/>
              <a:buChar char="•"/>
            </a:pPr>
            <a:r>
              <a:rPr lang="en-US" sz="2800" dirty="0"/>
              <a:t>Data security depends on implementation.</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extLst>
      <p:ext uri="{BB962C8B-B14F-4D97-AF65-F5344CB8AC3E}">
        <p14:creationId xmlns:p14="http://schemas.microsoft.com/office/powerpoint/2010/main" val="18389767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IN"/>
          </a:p>
        </p:txBody>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txBody>
            <a:bodyPr/>
            <a:lstStyle/>
            <a:p>
              <a:endParaRPr lang="en-IN"/>
            </a:p>
          </p:txBody>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731</TotalTime>
  <Words>832</Words>
  <Application>Microsoft Office PowerPoint</Application>
  <PresentationFormat>Custom</PresentationFormat>
  <Paragraphs>348</Paragraphs>
  <Slides>16</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Cambria</vt:lpstr>
      <vt:lpstr>Arial</vt:lpstr>
      <vt:lpstr>Gotham</vt:lpstr>
      <vt:lpstr>Gotham Bold Italics</vt:lpstr>
      <vt:lpstr>Times New Roman</vt:lpstr>
      <vt:lpstr>Bookman Old Style</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sairam gurram</dc:creator>
  <cp:lastModifiedBy>Naveen Naidu</cp:lastModifiedBy>
  <cp:revision>17</cp:revision>
  <dcterms:created xsi:type="dcterms:W3CDTF">2006-08-16T00:00:00Z</dcterms:created>
  <dcterms:modified xsi:type="dcterms:W3CDTF">2026-05-06T03:31:22Z</dcterms:modified>
  <dc:identifier>DAHCaYqJ9OU</dc:identifier>
</cp:coreProperties>
</file>